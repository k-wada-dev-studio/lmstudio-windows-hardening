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37bad6d694be3" /><Relationship Type="http://schemas.openxmlformats.org/officeDocument/2006/relationships/extended-properties" Target="/docProps/app.xml" Id="R973dbc03ed66482e" /><Relationship Type="http://schemas.openxmlformats.org/officeDocument/2006/relationships/officeDocument" Target="/ppt/presentation.xml" Id="R56b47c214dd1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d4df9eaa0b4189"/>
  </p:sldMasterIdLst>
  <p:notesMasterIdLst>
    <p:notesMasterId xmlns:r="http://schemas.openxmlformats.org/officeDocument/2006/relationships" r:id="R72d25c253d6a4bce"/>
  </p:notesMasterIdLst>
  <p:sldIdLst>
    <p:sldId xmlns:r="http://schemas.openxmlformats.org/officeDocument/2006/relationships" id="256" r:id="R23fc98cb845641e9"/>
    <p:sldId xmlns:r="http://schemas.openxmlformats.org/officeDocument/2006/relationships" id="257" r:id="Rfb350e326a97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d0a85b04c74137" /><Relationship Type="http://schemas.openxmlformats.org/officeDocument/2006/relationships/slideMaster" Target="/ppt/slideMasters/slideMaster1.xml" Id="R60d4df9eaa0b4189" /><Relationship Type="http://schemas.openxmlformats.org/officeDocument/2006/relationships/notesMaster" Target="/ppt/notesMasters/notesMaster1.xml" Id="R72d25c253d6a4bce" /><Relationship Type="http://schemas.openxmlformats.org/officeDocument/2006/relationships/presProps" Target="/ppt/presProps.xml" Id="Rda9c6993735141f9" /><Relationship Type="http://schemas.openxmlformats.org/officeDocument/2006/relationships/tableStyles" Target="/ppt/tableStyles.xml" Id="Rc680fd8c03ba4826" /><Relationship Type="http://schemas.openxmlformats.org/officeDocument/2006/relationships/slide" Target="/ppt/slides/slide1.xml" Id="R23fc98cb845641e9" /><Relationship Type="http://schemas.openxmlformats.org/officeDocument/2006/relationships/slide" Target="/ppt/slides/slide2.xml" Id="Rfb350e326a97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3e5a46b0a48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a2a5facb14081" /><Relationship Type="http://schemas.openxmlformats.org/officeDocument/2006/relationships/notesMaster" Target="/ppt/notesMasters/notesMaster1.xml" Id="R9dc46a491c9b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5d361944d4541" /><Relationship Type="http://schemas.openxmlformats.org/officeDocument/2006/relationships/notesMaster" Target="/ppt/notesMasters/notesMaster1.xml" Id="Rea2305f3659d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配布担当者が先に準備する内容です。利用者にはdeployment.local.psd1を編集させません。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README.ja.md（前提条件、配布設定、Firewallの既定値）</a:t>
            </a:r>
          </a:p>
          <a:p xmlns:a="http://schemas.openxmlformats.org/drawingml/2006/main">
            <a:r>
              <a:t>- config/deployment.local.psd1.example（ModelSourcePath、ProjectFirewall）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利用者の操作は初回セットアップと日常起動の2つに限定します。LM Studioを通常のショートカットから起動しない運用を案内してください。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README.ja.md（クイックスタート、運用上の注意）</a:t>
            </a:r>
          </a:p>
          <a:p xmlns:a="http://schemas.openxmlformats.org/drawingml/2006/main">
            <a:r>
              <a:t>- src/Setup-LMStudio.ps1（初期セットアップ結果）</a:t>
            </a:r>
          </a:p>
          <a:p xmlns:a="http://schemas.openxmlformats.org/drawingml/2006/main">
            <a:r>
              <a:t>- src/Start-LMStudio-Secure.ps1（モデル、MCP、API、待受け検証）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9961545dd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efb72d55eb4920" /><Relationship Type="http://schemas.openxmlformats.org/officeDocument/2006/relationships/slideLayout" Target="/ppt/slideLayouts/slideLayout1.xml" Id="R95083cce7211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83cce7211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14d7d31304e35" /><Relationship Type="http://schemas.openxmlformats.org/officeDocument/2006/relationships/notesSlide" Target="/ppt/notesSlides/notesSlide1.xml" Id="Rab3c806a4e77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04e04d29a4bb1" /><Relationship Type="http://schemas.openxmlformats.org/officeDocument/2006/relationships/notesSlide" Target="/ppt/notesSlides/notesSlide2.xml" Id="R22c1839192a248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1-eyebrow">
            <a:extLst xmlns:a="http://schemas.openxmlformats.org/drawingml/2006/main">
              <a:ext uri="{FF2B5EF4-FFF2-40B4-BE49-F238E27FC236}">
                <a16:creationId xmlns:a16="http://schemas.microsoft.com/office/drawing/2014/main" id="{54FD7AA2-7B9E-4A63-AD98-BFD48D67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rPr>
              <a:t>導入ガイド｜配布担当者向け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9BAE4996-F947-4780-944B-A418D664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導入前に、3点だけ準備します</a:t>
            </a:r>
          </a:p>
        </p:txBody>
      </p:sp>
      <p:sp>
        <p:nvSpPr>
          <p:cNvPr id="3" name="s1-subtitle">
            <a:extLst xmlns:a="http://schemas.openxmlformats.org/drawingml/2006/main">
              <a:ext uri="{FF2B5EF4-FFF2-40B4-BE49-F238E27FC236}">
                <a16:creationId xmlns:a16="http://schemas.microsoft.com/office/drawing/2014/main" id="{FE08F508-0FB3-4100-B04B-8B0E531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6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利用者にはモデルの場所や細かな設定を触らせません。配布側で一度だけ決めます。</a:t>
            </a:r>
          </a:p>
        </p:txBody>
      </p:sp>
      <p:sp>
        <p:nvSpPr>
          <p:cNvPr id="4" name="s1-timeline-line">
            <a:extLst xmlns:a="http://schemas.openxmlformats.org/drawingml/2006/main">
              <a:ext uri="{FF2B5EF4-FFF2-40B4-BE49-F238E27FC236}">
                <a16:creationId xmlns:a16="http://schemas.microsoft.com/office/drawing/2014/main" id="{36F6444E-8DAE-4C0A-8B21-692C065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1CC"/>
            </a:solidFill>
            <a:prstDash val="solid"/>
          </a:ln>
        </p:spPr>
      </p:sp>
      <p:sp>
        <p:nvSpPr>
          <p:cNvPr id="5" name="s1-marker-1">
            <a:extLst xmlns:a="http://schemas.openxmlformats.org/drawingml/2006/main">
              <a:ext uri="{FF2B5EF4-FFF2-40B4-BE49-F238E27FC236}">
                <a16:creationId xmlns:a16="http://schemas.microsoft.com/office/drawing/2014/main" id="{48EB2E5B-1B63-472A-8D41-B750FDE7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number-1">
            <a:extLst xmlns:a="http://schemas.openxmlformats.org/drawingml/2006/main">
              <a:ext uri="{FF2B5EF4-FFF2-40B4-BE49-F238E27FC236}">
                <a16:creationId xmlns:a16="http://schemas.microsoft.com/office/drawing/2014/main" id="{0076E9E2-28B0-4BB5-8B93-44C98984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s1-step-title-1">
            <a:extLst xmlns:a="http://schemas.openxmlformats.org/drawingml/2006/main">
              <a:ext uri="{FF2B5EF4-FFF2-40B4-BE49-F238E27FC236}">
                <a16:creationId xmlns:a16="http://schemas.microsoft.com/office/drawing/2014/main" id="{6B46F00E-06F0-4167-8FCC-E6BB19C1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LM Studioを準備</a:t>
            </a:r>
          </a:p>
        </p:txBody>
      </p:sp>
      <p:sp>
        <p:nvSpPr>
          <p:cNvPr id="8" name="s1-step-body-1">
            <a:extLst xmlns:a="http://schemas.openxmlformats.org/drawingml/2006/main">
              <a:ext uri="{FF2B5EF4-FFF2-40B4-BE49-F238E27FC236}">
                <a16:creationId xmlns:a16="http://schemas.microsoft.com/office/drawing/2014/main" id="{9C6E2564-E854-4960-A805-E0F1933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LM Studioを一度起動して初期化</a:t>
            </a:r>
          </a:p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対応Runtimeを事前にインストール</a:t>
            </a:r>
          </a:p>
        </p:txBody>
      </p:sp>
      <p:sp>
        <p:nvSpPr>
          <p:cNvPr id="9" name="s1-marker-2">
            <a:extLst xmlns:a="http://schemas.openxmlformats.org/drawingml/2006/main">
              <a:ext uri="{FF2B5EF4-FFF2-40B4-BE49-F238E27FC236}">
                <a16:creationId xmlns:a16="http://schemas.microsoft.com/office/drawing/2014/main" id="{23A4D667-5CB8-43CB-8898-72C5A1D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-number-2">
            <a:extLst xmlns:a="http://schemas.openxmlformats.org/drawingml/2006/main">
              <a:ext uri="{FF2B5EF4-FFF2-40B4-BE49-F238E27FC236}">
                <a16:creationId xmlns:a16="http://schemas.microsoft.com/office/drawing/2014/main" id="{3707FD82-8787-4925-86FD-D70246F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1" name="s1-step-title-2">
            <a:extLst xmlns:a="http://schemas.openxmlformats.org/drawingml/2006/main">
              <a:ext uri="{FF2B5EF4-FFF2-40B4-BE49-F238E27FC236}">
                <a16:creationId xmlns:a16="http://schemas.microsoft.com/office/drawing/2014/main" id="{A7471831-406D-4A92-B1A2-65BD3B9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承認モデルを配置</a:t>
            </a:r>
          </a:p>
        </p:txBody>
      </p:sp>
      <p:sp>
        <p:nvSpPr>
          <p:cNvPr id="12" name="s1-step-body-2">
            <a:extLst xmlns:a="http://schemas.openxmlformats.org/drawingml/2006/main">
              <a:ext uri="{FF2B5EF4-FFF2-40B4-BE49-F238E27FC236}">
                <a16:creationId xmlns:a16="http://schemas.microsoft.com/office/drawing/2014/main" id="{56BF3148-E6C6-4748-9BB7-E4B5EFD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共有フォルダにGGUFを1つ配置</a:t>
            </a:r>
          </a:p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画像対応時はmmprojも同じ場所へ</a:t>
            </a:r>
          </a:p>
        </p:txBody>
      </p:sp>
      <p:sp>
        <p:nvSpPr>
          <p:cNvPr id="13" name="s1-marker-3">
            <a:extLst xmlns:a="http://schemas.openxmlformats.org/drawingml/2006/main">
              <a:ext uri="{FF2B5EF4-FFF2-40B4-BE49-F238E27FC236}">
                <a16:creationId xmlns:a16="http://schemas.microsoft.com/office/drawing/2014/main" id="{1B188080-CBB1-423D-AF31-E4B81DD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-number-3">
            <a:extLst xmlns:a="http://schemas.openxmlformats.org/drawingml/2006/main">
              <a:ext uri="{FF2B5EF4-FFF2-40B4-BE49-F238E27FC236}">
                <a16:creationId xmlns:a16="http://schemas.microsoft.com/office/drawing/2014/main" id="{CAA3C451-B81D-46A4-9D6E-BB98526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5" name="s1-step-title-3">
            <a:extLst xmlns:a="http://schemas.openxmlformats.org/drawingml/2006/main">
              <a:ext uri="{FF2B5EF4-FFF2-40B4-BE49-F238E27FC236}">
                <a16:creationId xmlns:a16="http://schemas.microsoft.com/office/drawing/2014/main" id="{DBED8DAB-4C8C-460C-9DC5-230FD974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配布設定を確定</a:t>
            </a:r>
          </a:p>
        </p:txBody>
      </p:sp>
      <p:sp>
        <p:nvSpPr>
          <p:cNvPr id="16" name="s1-step-body-3">
            <a:extLst xmlns:a="http://schemas.openxmlformats.org/drawingml/2006/main">
              <a:ext uri="{FF2B5EF4-FFF2-40B4-BE49-F238E27FC236}">
                <a16:creationId xmlns:a16="http://schemas.microsoft.com/office/drawing/2014/main" id="{4ABDA1A9-6C92-4FB6-AE2E-4F57B7A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0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deployment.local.psd1 に共有パス</a:t>
            </a:r>
          </a:p>
          <a:p xmlns:a="http://schemas.openxmlformats.org/drawingml/2006/main">
            <a:pPr>
              <a:defRPr sz="150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ProjectFirewall は ON / OFF を選択</a:t>
            </a:r>
          </a:p>
        </p:txBody>
      </p:sp>
      <p:sp>
        <p:nvSpPr>
          <p:cNvPr id="17" name="s1-warning-bg">
            <a:extLst xmlns:a="http://schemas.openxmlformats.org/drawingml/2006/main">
              <a:ext uri="{FF2B5EF4-FFF2-40B4-BE49-F238E27FC236}">
                <a16:creationId xmlns:a16="http://schemas.microsoft.com/office/drawing/2014/main" id="{8C149893-239F-4699-B7DB-E11B0B5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-warning-title">
            <a:extLst xmlns:a="http://schemas.openxmlformats.org/drawingml/2006/main">
              <a:ext uri="{FF2B5EF4-FFF2-40B4-BE49-F238E27FC236}">
                <a16:creationId xmlns:a16="http://schemas.microsoft.com/office/drawing/2014/main" id="{CD7432DA-43A0-41E6-AB98-9805C7C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重要｜ProjectFirewall = 'OFF' は「通信遮断済み」ではありません</a:t>
            </a:r>
          </a:p>
        </p:txBody>
      </p:sp>
      <p:sp>
        <p:nvSpPr>
          <p:cNvPr id="19" name="s1-warning-body">
            <a:extLst xmlns:a="http://schemas.openxmlformats.org/drawingml/2006/main">
              <a:ext uri="{FF2B5EF4-FFF2-40B4-BE49-F238E27FC236}">
                <a16:creationId xmlns:a16="http://schemas.microsoft.com/office/drawing/2014/main" id="{E942A66C-63EE-4A48-B744-7D43232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既定はOFFです。会社・組織側のFirewall／EDR／ネットワークポリシーが有効か、配布前に確認してください。</a:t>
            </a:r>
          </a:p>
        </p:txBody>
      </p:sp>
      <p:sp>
        <p:nvSpPr>
          <p:cNvPr id="20" name="footer-1">
            <a:extLst xmlns:a="http://schemas.openxmlformats.org/drawingml/2006/main">
              <a:ext uri="{FF2B5EF4-FFF2-40B4-BE49-F238E27FC236}">
                <a16:creationId xmlns:a16="http://schemas.microsoft.com/office/drawing/2014/main" id="{6428458E-472F-4A99-9BBB-A097DB3B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88493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788493"/>
                </a:solidFill>
                <a:latin typeface="Yu Gothic"/>
                <a:ea typeface="Yu Gothic"/>
                <a:cs typeface="Yu Gothic"/>
              </a:rPr>
              <a:t>LM Studio Windows Hardening  |  1 / 2</a:t>
            </a:r>
          </a:p>
        </p:txBody>
      </p:sp>
    </p:spTree>
    <p:extLst>
      <p:ext uri="{BB962C8B-B14F-4D97-AF65-F5344CB8AC3E}">
        <p14:creationId xmlns:p14="http://schemas.microsoft.com/office/powerpoint/2010/main" val="1831320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-eyebrow">
            <a:extLst xmlns:a="http://schemas.openxmlformats.org/drawingml/2006/main">
              <a:ext uri="{FF2B5EF4-FFF2-40B4-BE49-F238E27FC236}">
                <a16:creationId xmlns:a16="http://schemas.microsoft.com/office/drawing/2014/main" id="{A7141180-5157-4BF4-9051-12C5F4AA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rPr>
              <a:t>利用者向け｜初回と日常利用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363A36D2-F0E4-49DD-8137-EA6C8AF5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利用者は2ファイルを順番に実行</a:t>
            </a:r>
          </a:p>
        </p:txBody>
      </p:sp>
      <p:sp>
        <p:nvSpPr>
          <p:cNvPr id="3" name="s2-process-line">
            <a:extLst xmlns:a="http://schemas.openxmlformats.org/drawingml/2006/main">
              <a:ext uri="{FF2B5EF4-FFF2-40B4-BE49-F238E27FC236}">
                <a16:creationId xmlns:a16="http://schemas.microsoft.com/office/drawing/2014/main" id="{5BFC8134-49DE-4D7F-B1C5-FF826331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784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E8"/>
            </a:solidFill>
            <a:prstDash val="solid"/>
          </a:ln>
        </p:spPr>
      </p:sp>
      <p:sp>
        <p:nvSpPr>
          <p:cNvPr id="4" name="s2-arrow-1">
            <a:extLst xmlns:a="http://schemas.openxmlformats.org/drawingml/2006/main">
              <a:ext uri="{FF2B5EF4-FFF2-40B4-BE49-F238E27FC236}">
                <a16:creationId xmlns:a16="http://schemas.microsoft.com/office/drawing/2014/main" id="{66AD1E7A-6DBE-4669-BAE6-60685C0A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878E8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2878E8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5" name="s2-node-1">
            <a:extLst xmlns:a="http://schemas.openxmlformats.org/drawingml/2006/main">
              <a:ext uri="{FF2B5EF4-FFF2-40B4-BE49-F238E27FC236}">
                <a16:creationId xmlns:a16="http://schemas.microsoft.com/office/drawing/2014/main" id="{4137E35E-48EE-4F0E-A531-C98FA80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" name="s2-label-1">
            <a:extLst xmlns:a="http://schemas.openxmlformats.org/drawingml/2006/main">
              <a:ext uri="{FF2B5EF4-FFF2-40B4-BE49-F238E27FC236}">
                <a16:creationId xmlns:a16="http://schemas.microsoft.com/office/drawing/2014/main" id="{9ECA1657-CD81-4C21-AFDF-38F592D9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rPr>
              <a:t>初回のみ</a:t>
            </a:r>
          </a:p>
        </p:txBody>
      </p:sp>
      <p:sp>
        <p:nvSpPr>
          <p:cNvPr id="7" name="s2-command-1">
            <a:extLst xmlns:a="http://schemas.openxmlformats.org/drawingml/2006/main">
              <a:ext uri="{FF2B5EF4-FFF2-40B4-BE49-F238E27FC236}">
                <a16:creationId xmlns:a16="http://schemas.microsoft.com/office/drawing/2014/main" id="{2CC0D8FE-40B6-40B2-B087-DE85A21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1-Setup.cmd</a:t>
            </a:r>
          </a:p>
        </p:txBody>
      </p:sp>
      <p:sp>
        <p:nvSpPr>
          <p:cNvPr id="8" name="s2-body-1">
            <a:extLst xmlns:a="http://schemas.openxmlformats.org/drawingml/2006/main">
              <a:ext uri="{FF2B5EF4-FFF2-40B4-BE49-F238E27FC236}">
                <a16:creationId xmlns:a16="http://schemas.microsoft.com/office/drawing/2014/main" id="{A55596F9-2E30-41B8-9146-062D88D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LM Studioを完全に閉じる</a:t>
            </a:r>
          </a:p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ダブルクリック → 管理者確認を許可</a:t>
            </a:r>
          </a:p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「Setup completed」を確認</a:t>
            </a:r>
          </a:p>
        </p:txBody>
      </p:sp>
      <p:sp>
        <p:nvSpPr>
          <p:cNvPr id="9" name="s2-node-2">
            <a:extLst xmlns:a="http://schemas.openxmlformats.org/drawingml/2006/main">
              <a:ext uri="{FF2B5EF4-FFF2-40B4-BE49-F238E27FC236}">
                <a16:creationId xmlns:a16="http://schemas.microsoft.com/office/drawing/2014/main" id="{0B32FA72-C978-48D6-988E-ED6AFA90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10" name="s2-label-2">
            <a:extLst xmlns:a="http://schemas.openxmlformats.org/drawingml/2006/main">
              <a:ext uri="{FF2B5EF4-FFF2-40B4-BE49-F238E27FC236}">
                <a16:creationId xmlns:a16="http://schemas.microsoft.com/office/drawing/2014/main" id="{746D5FF8-5DD7-4692-94F3-29984FB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78E8"/>
                </a:solidFill>
                <a:latin typeface="Yu Gothic"/>
                <a:ea typeface="Yu Gothic"/>
                <a:cs typeface="Yu Gothic"/>
              </a:rPr>
              <a:t>毎回の利用</a:t>
            </a:r>
          </a:p>
        </p:txBody>
      </p:sp>
      <p:sp>
        <p:nvSpPr>
          <p:cNvPr id="11" name="s2-command-2">
            <a:extLst xmlns:a="http://schemas.openxmlformats.org/drawingml/2006/main">
              <a:ext uri="{FF2B5EF4-FFF2-40B4-BE49-F238E27FC236}">
                <a16:creationId xmlns:a16="http://schemas.microsoft.com/office/drawing/2014/main" id="{91DDB9F3-2796-47F5-9072-172B9B32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2-Start-Secure.cmd</a:t>
            </a:r>
          </a:p>
        </p:txBody>
      </p:sp>
      <p:sp>
        <p:nvSpPr>
          <p:cNvPr id="12" name="s2-body-2">
            <a:extLst xmlns:a="http://schemas.openxmlformats.org/drawingml/2006/main">
              <a:ext uri="{FF2B5EF4-FFF2-40B4-BE49-F238E27FC236}">
                <a16:creationId xmlns:a16="http://schemas.microsoft.com/office/drawing/2014/main" id="{806EA243-4676-4EE3-AE3A-022BC271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ダブルクリックするだけ</a:t>
            </a:r>
          </a:p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承認モデル1つを自動ロード</a:t>
            </a:r>
          </a:p>
          <a:p xmlns:a="http://schemas.openxmlformats.org/drawingml/2006/main">
            <a:pPr>
              <a:defRPr sz="1350">
                <a:solidFill>
                  <a:srgbClr val="52607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526071"/>
                </a:solidFill>
                <a:latin typeface="Yu Gothic"/>
                <a:ea typeface="Yu Gothic"/>
                <a:cs typeface="Yu Gothic"/>
              </a:rPr>
              <a:t>MCPとAPI設定も起動前に再確認</a:t>
            </a:r>
          </a:p>
        </p:txBody>
      </p:sp>
      <p:sp>
        <p:nvSpPr>
          <p:cNvPr id="13" name="s2-check-title">
            <a:extLst xmlns:a="http://schemas.openxmlformats.org/drawingml/2006/main">
              <a:ext uri="{FF2B5EF4-FFF2-40B4-BE49-F238E27FC236}">
                <a16:creationId xmlns:a16="http://schemas.microsoft.com/office/drawing/2014/main" id="{27B9A1BB-DE6B-47CE-9FF0-1767A48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2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B1220"/>
                </a:solidFill>
                <a:latin typeface="Yu Gothic"/>
                <a:ea typeface="Yu Gothic"/>
                <a:cs typeface="Yu Gothic"/>
              </a:rPr>
              <a:t>完了画面で確認すること</a:t>
            </a:r>
          </a:p>
        </p:txBody>
      </p:sp>
      <p:sp>
        <p:nvSpPr>
          <p:cNvPr id="14" name="s2-checks">
            <a:extLst xmlns:a="http://schemas.openxmlformats.org/drawingml/2006/main">
              <a:ext uri="{FF2B5EF4-FFF2-40B4-BE49-F238E27FC236}">
                <a16:creationId xmlns:a16="http://schemas.microsoft.com/office/drawing/2014/main" id="{97935441-0261-487C-AF02-3A6BF04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633E"/>
                </a:solidFill>
                <a:latin typeface="Yu Gothic"/>
                <a:ea typeface="Yu Gothic"/>
                <a:cs typeface="Yu Gothic"/>
              </a:defRPr>
            </a:pPr>
            <a:r>
              <a:rPr sz="1575">
                <a:solidFill>
                  <a:srgbClr val="11633E"/>
                </a:solidFill>
                <a:latin typeface="Yu Gothic"/>
                <a:ea typeface="Yu Gothic"/>
                <a:cs typeface="Yu Gothic"/>
              </a:rPr>
              <a:t>✓ 承認モデルだけがロード済み</a:t>
            </a:r>
          </a:p>
          <a:p xmlns:a="http://schemas.openxmlformats.org/drawingml/2006/main">
            <a:pPr>
              <a:defRPr sz="1575">
                <a:solidFill>
                  <a:srgbClr val="11633E"/>
                </a:solidFill>
                <a:latin typeface="Yu Gothic"/>
                <a:ea typeface="Yu Gothic"/>
                <a:cs typeface="Yu Gothic"/>
              </a:defRPr>
            </a:pPr>
            <a:r>
              <a:rPr sz="1575">
                <a:solidFill>
                  <a:srgbClr val="11633E"/>
                </a:solidFill>
                <a:latin typeface="Yu Gothic"/>
                <a:ea typeface="Yu Gothic"/>
                <a:cs typeface="Yu Gothic"/>
              </a:rPr>
              <a:t>✓ MCP：EMPTY</a:t>
            </a:r>
          </a:p>
          <a:p xmlns:a="http://schemas.openxmlformats.org/drawingml/2006/main">
            <a:pPr>
              <a:defRPr sz="1575">
                <a:solidFill>
                  <a:srgbClr val="11633E"/>
                </a:solidFill>
                <a:latin typeface="Yu Gothic"/>
                <a:ea typeface="Yu Gothic"/>
                <a:cs typeface="Yu Gothic"/>
              </a:defRPr>
            </a:pPr>
            <a:r>
              <a:rPr sz="1575">
                <a:solidFill>
                  <a:srgbClr val="11633E"/>
                </a:solidFill>
                <a:latin typeface="Yu Gothic"/>
                <a:ea typeface="Yu Gothic"/>
                <a:cs typeface="Yu Gothic"/>
              </a:rPr>
              <a:t>✓ Public API：AUTOSTART OFF／LOOPBACK ONLY</a:t>
            </a:r>
          </a:p>
        </p:txBody>
      </p:sp>
      <p:sp>
        <p:nvSpPr>
          <p:cNvPr id="15" name="s2-caution-bg">
            <a:extLst xmlns:a="http://schemas.openxmlformats.org/drawingml/2006/main">
              <a:ext uri="{FF2B5EF4-FFF2-40B4-BE49-F238E27FC236}">
                <a16:creationId xmlns:a16="http://schemas.microsoft.com/office/drawing/2014/main" id="{0B4A9335-D8F4-4E65-94B5-FE3BCD3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510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2-caution-title">
            <a:extLst xmlns:a="http://schemas.openxmlformats.org/drawingml/2006/main">
              <a:ext uri="{FF2B5EF4-FFF2-40B4-BE49-F238E27FC236}">
                <a16:creationId xmlns:a16="http://schemas.microsoft.com/office/drawing/2014/main" id="{D15E8D23-615A-4BEC-AE4A-DE485B62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Firewall表示も確認</a:t>
            </a:r>
          </a:p>
        </p:txBody>
      </p:sp>
      <p:sp>
        <p:nvSpPr>
          <p:cNvPr id="17" name="s2-caution-body">
            <a:extLst xmlns:a="http://schemas.openxmlformats.org/drawingml/2006/main">
              <a:ext uri="{FF2B5EF4-FFF2-40B4-BE49-F238E27FC236}">
                <a16:creationId xmlns:a16="http://schemas.microsoft.com/office/drawing/2014/main" id="{9EFE361F-F59E-4998-BA1A-CB40D2A8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41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OFF：会社側の保護へ委任（本ツールでは未検証）</a:t>
            </a:r>
          </a:p>
          <a:p xmlns:a="http://schemas.openxmlformats.org/drawingml/2006/main">
            <a:pPr>
              <a:defRPr sz="1350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ON：対象プロセスをlocalhost以外で遮断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7A3E00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7A3E00"/>
                </a:solidFill>
                <a:latin typeface="Yu Gothic"/>
                <a:ea typeface="Yu Gothic"/>
                <a:cs typeface="Yu Gothic"/>
              </a:rPr>
              <a:t>設定を触らず、必ず安全起動ファイルから開始します。</a:t>
            </a:r>
          </a:p>
        </p:txBody>
      </p: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5E398C87-72EE-40BF-A155-5346A24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88493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788493"/>
                </a:solidFill>
                <a:latin typeface="Yu Gothic"/>
                <a:ea typeface="Yu Gothic"/>
                <a:cs typeface="Yu Gothic"/>
              </a:rPr>
              <a:t>LM Studio Windows Hardening  |  2 / 2</a:t>
            </a:r>
          </a:p>
        </p:txBody>
      </p:sp>
    </p:spTree>
    <p:extLst>
      <p:ext uri="{BB962C8B-B14F-4D97-AF65-F5344CB8AC3E}">
        <p14:creationId xmlns:p14="http://schemas.microsoft.com/office/powerpoint/2010/main" val="561716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2026-08-20T11:35:45.5000000Z</dcterms:created>
  <dcterms:modified xsi:type="dcterms:W3CDTF">2026-08-20T11:35:45.5000000Z</dcterms:modified>
</coreProperties>
</file>